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529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Zapit as an enterprise file transfer solution. Emphasize speed, encryption, and simplicity.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pain points customers face with legacy file transfer tools. Ask the audience: how much does your current tool cost? How long did it take to install?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four key numbers. 132 MB/s sustained, 2-minute transfer for 15 GB, 5-minute install, zero annual cost. These numbers are tested and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architecture. Two channels: SSH for control (authentication, key exchange), UDP for data (encrypted, paced). Four steps: authenticate, exchange key, send encrypted, verify and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 SPRINT+ modes. AIMD is default and safe for any network. SPRINT+ adds RTT monitoring for smoother performance. Dedicated mode holds a target rate on known-capacity links. The algorithm is published and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a key differentiator. AES-256-GCM on every byte, FIPS 140-3 certified, per-transfer keys in memory only, full audit trail. This meets bank and government security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enterprise features. Job management for operators, resilience for reliability, operations for simplicity, deployment for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simplicity. Three steps to go from zero to transferring files. 5 MB RPM, no dependencies. Compare with Aspera's multi-day installation.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benchmark numbers. 132 MB/s sustained with zero retransmissions. All modes achieve identical speed. Transfer times scale linearly.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comparison table row by row. Highlight the green values in the Zapit column. Same speed, fraction of the cost, simpler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7-step pipeline. Emphasize single-pass efficiency. Explain the source file stability check — prevents transferring files that are being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SLIDE. Stop talking. Start the transfer. Let them watch 132 MB/s happening live. The speed sells itself. Show zapit list updating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slide. Recap all key points. End with the tagline. Ask: any questions? Ready for a POC?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ZAPIT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High-Speed Encrypted File Transfer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data. Full speed. Every time.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1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3EAD21E-ECDA-1C55-E0B4-C0083BAEE80B}"/>
              </a:ext>
            </a:extLst>
          </p:cNvPr>
          <p:cNvSpPr/>
          <p:nvPr/>
        </p:nvSpPr>
        <p:spPr>
          <a:xfrm>
            <a:off x="655320" y="3520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Presenters:  </a:t>
            </a:r>
            <a:br>
              <a:rPr lang="en-US" sz="105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5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</a:t>
            </a:r>
            <a:r>
              <a:rPr lang="en-US" sz="1050" i="1" dirty="0" err="1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sharan</a:t>
            </a:r>
            <a:r>
              <a:rPr lang="en-US" sz="105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i="1" dirty="0" err="1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Neerumalla</a:t>
            </a:r>
            <a:br>
              <a:rPr lang="en-US" sz="105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5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Sravan Kumar </a:t>
            </a:r>
            <a:r>
              <a:rPr lang="en-US" sz="1050" i="1" dirty="0" err="1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Pendota</a:t>
            </a:r>
            <a:br>
              <a:rPr lang="en-US" sz="105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5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Naresh </a:t>
            </a:r>
            <a:r>
              <a:rPr lang="en-US" sz="1050" i="1" dirty="0" err="1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goud</a:t>
            </a:r>
            <a:r>
              <a:rPr lang="en-US" sz="105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i="1" dirty="0" err="1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Narella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/>
          <a:effectLst>
            <a:outerShdw blurRad="76200" dist="25400" dir="8100000" algn="bl" rotWithShape="0">
              <a:srgbClr val="CCCCCC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508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Expensive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tools cost $50K–$200K per year in licensing fees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/>
          <a:effectLst>
            <a:outerShdw blurRad="76200" dist="25400" dir="8100000" algn="bl" rotWithShape="0">
              <a:srgbClr val="CCCCCC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508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Complex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0" y="1965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 install. Dozens of dependencies. Training required.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/>
          <a:effectLst>
            <a:outerShdw blurRad="76200" dist="25400" dir="8100000" algn="bl" rotWithShape="0">
              <a:srgbClr val="CCCCCC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54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🐌  Slow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TCP-based transfers can't fill high-speed network links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301752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/>
          <a:effectLst>
            <a:outerShdw blurRad="76200" dist="25400" dir="8100000" algn="bl" rotWithShape="0">
              <a:srgbClr val="CCCCCC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3154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Locked In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46320" y="3611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ecosystems. Switching costs keep you trapped.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554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MB/s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throughput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554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56032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6032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GB transfer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554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75488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time (one RPM)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137160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0F34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1554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94944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944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subscription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 encrypted  •  FIPS 140-3 certified  •  Zero dependencies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(Sender)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zapit submit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--src file.bin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--node SERVER_B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B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(Receiver)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zapitd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listens 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2222 + 9000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2011680"/>
            <a:ext cx="3474720" cy="0"/>
          </a:xfrm>
          <a:prstGeom prst="line">
            <a:avLst/>
          </a:prstGeom>
          <a:noFill/>
          <a:ln w="25400">
            <a:solidFill>
              <a:srgbClr val="F4A023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017520" y="1463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Control Channel (TCP 2222)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• Key Exchange • ACKs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3017520"/>
            <a:ext cx="3474720" cy="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3108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Data Channel (UDP 9000)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 • SPRINT+ Pacing • 132 MB/s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8404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Authenticate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(SSH + ED25519)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14600" y="38404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2514600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Exchange Key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(AES-256, memory only)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8404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Send Encrypted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(UDP, SPRINT+ paced)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38404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Verify &amp; Commit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(GCM auth tag + fsync)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SPRINT+ Congestion Control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Pacing  •  Reactive Increase  •  Network-aware Tuning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2980B9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63040"/>
            <a:ext cx="2651760" cy="5486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813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mode for unknown networks.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Increases gradually, reduces on loss.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for any environment.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F4A023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2651760" cy="548640"/>
          </a:xfrm>
          <a:prstGeom prst="rect">
            <a:avLst/>
          </a:prstGeom>
          <a:solidFill>
            <a:srgbClr val="F4A023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4813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1783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RTT monitoring detects congestion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packet loss occurs.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 reduction for smooth throughput.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463040"/>
            <a:ext cx="2651760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4813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1783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286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specified speed on known links.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Auto-falls back on congestion.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Auto-returns when path clears.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Published, auditable algorithm — available as a research paper with DOI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Security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28016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 on every chunk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 140-3 certified module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AES-NI accelerated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Per-transfer key (memory only)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7373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 SSH key pairs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keys per server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key verification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passwords — keys only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01752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GCM auth tag per chunk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Tampered data auto-rejected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SHA-256 full-file verify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checksum (single pass)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301752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3474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transfer logged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Who, what, when, speed, checksum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for compliance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algorithm (DOI)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Management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Submit, cancel, hold, release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 failed transfers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 all failed (one command)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Purge completed jobs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645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Manifest-based resume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retransmission of completed 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file stability check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Post-transfer modification detection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systemd service (auto-start)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ZAPIT_HOME directory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ports (SSH + UDP)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concurrent transfer limits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33832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RPM — 5 MB package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dependencies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Linux glibc 2.17+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 install to first transfer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Zero to Transfer in 3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0080" cy="640080"/>
          </a:xfrm>
          <a:prstGeom prst="ellipse">
            <a:avLst/>
          </a:prstGeom>
          <a:solidFill>
            <a:srgbClr val="F4A0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25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6304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4114800" cy="640080"/>
          </a:xfrm>
          <a:prstGeom prst="roundRect">
            <a:avLst>
              <a:gd name="adj" fmla="val 7143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325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rpm -ivh zapit-4.4.rpm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0" y="12801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minutes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640080" cy="640080"/>
          </a:xfrm>
          <a:prstGeom prst="ellipse">
            <a:avLst/>
          </a:prstGeom>
          <a:solidFill>
            <a:srgbClr val="F4A02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14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6304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91840" y="2468880"/>
            <a:ext cx="4114800" cy="640080"/>
          </a:xfrm>
          <a:prstGeom prst="roundRect">
            <a:avLst>
              <a:gd name="adj" fmla="val 7143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514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nodes.conf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SSH key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89520" y="2468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minutes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rgbClr val="F4A02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03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46304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91840" y="3657600"/>
            <a:ext cx="4114800" cy="640080"/>
          </a:xfrm>
          <a:prstGeom prst="roundRect">
            <a:avLst>
              <a:gd name="adj" fmla="val 7143"/>
            </a:avLst>
          </a:prstGeom>
          <a:solidFill>
            <a:srgbClr val="16213E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3703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zapit submit --src file.bin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--dest /data/file.bin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--node SERVER_B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--remote-user svc_zapit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89520" y="3657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MB package  •  Zero dependencies  •  No Java  •  No Node.js  •  No runtime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Performance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Results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Size: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GB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039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Time: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0" y="2039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 2 sec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340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2340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 MB/s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6426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Retransmissions: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6426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944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944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0F3460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Transfer Times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20640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seconds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2130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2130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min 18 sec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2478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GB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0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minutes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20640" y="2825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GB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2825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hour 6 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3172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TB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3172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 12 min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4023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on AWS c5.xlarge  •  gp3 EBS  •  10 Gbps  •  0.1ms RTT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Zapit?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2286000" cy="3657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0" y="914400"/>
            <a:ext cx="2743200" cy="3657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Tools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914400"/>
            <a:ext cx="2743200" cy="3657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280160"/>
            <a:ext cx="2286000" cy="34747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801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1280160"/>
            <a:ext cx="2743200" cy="34747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280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to days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1280160"/>
            <a:ext cx="2743200" cy="34747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280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162763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6276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size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26080" y="1627632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16276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MB – 1 GB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0" y="1627632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16276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1975104"/>
            <a:ext cx="2286000" cy="34747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19751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26080" y="1975104"/>
            <a:ext cx="2743200" cy="34747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19751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Java, Node.js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0" y="1975104"/>
            <a:ext cx="2743200" cy="34747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19751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2322576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3225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license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26080" y="2322576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0" y="23225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 – $200K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0" y="2322576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23225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(perpetual)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2670048"/>
            <a:ext cx="2286000" cy="34747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26700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speed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926080" y="2670048"/>
            <a:ext cx="2743200" cy="34747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2670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~130 MB/s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669280" y="2670048"/>
            <a:ext cx="2743200" cy="34747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0" y="2670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 MB/s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0080" y="3017520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017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926080" y="3017520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3017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AES-128/256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669280" y="3017520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017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" y="3364992"/>
            <a:ext cx="2286000" cy="34747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33649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 compliance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926080" y="3364992"/>
            <a:ext cx="2743200" cy="34747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0" y="3364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669280" y="3364992"/>
            <a:ext cx="2743200" cy="34747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0" y="3364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 140-3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40080" y="3712464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37124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transfers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926080" y="3712464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26080" y="37124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669280" y="3712464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0" y="37124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40080" y="4059936"/>
            <a:ext cx="2286000" cy="34747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" y="40599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926080" y="4059936"/>
            <a:ext cx="2743200" cy="34747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26080" y="4059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669280" y="4059936"/>
            <a:ext cx="2743200" cy="34747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0" y="4059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(DOI)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40080" y="4407408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" y="44074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lock-in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2926080" y="4407408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926080" y="44074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669280" y="4407408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0" y="44074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2880" y="1097280"/>
            <a:ext cx="1097280" cy="1645920"/>
          </a:xfrm>
          <a:prstGeom prst="roundRect">
            <a:avLst>
              <a:gd name="adj" fmla="val 6667"/>
            </a:avLst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188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6916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Single-pass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read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44752" y="1097280"/>
            <a:ext cx="1097280" cy="1645920"/>
          </a:xfrm>
          <a:prstGeom prst="roundRect">
            <a:avLst>
              <a:gd name="adj" fmla="val 6667"/>
            </a:avLst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1444752" y="1188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44752" y="16916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(free)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96312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06624" y="1097280"/>
            <a:ext cx="1097280" cy="1645920"/>
          </a:xfrm>
          <a:prstGeom prst="roundRect">
            <a:avLst>
              <a:gd name="adj" fmla="val 6667"/>
            </a:avLst>
          </a:prstGeom>
          <a:solidFill>
            <a:srgbClr val="F4A023"/>
          </a:solidFill>
          <a:ln/>
        </p:spPr>
      </p:sp>
      <p:sp>
        <p:nvSpPr>
          <p:cNvPr id="12" name="Text 10"/>
          <p:cNvSpPr/>
          <p:nvPr/>
        </p:nvSpPr>
        <p:spPr>
          <a:xfrm>
            <a:off x="2706624" y="1188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06624" y="16916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AES-NI hardware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58184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968496" y="1097280"/>
            <a:ext cx="1097280" cy="1645920"/>
          </a:xfrm>
          <a:prstGeom prst="roundRect">
            <a:avLst>
              <a:gd name="adj" fmla="val 6667"/>
            </a:avLst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3968496" y="1188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68496" y="16916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~730 UDP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packets/chunk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0056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230368" y="1097280"/>
            <a:ext cx="1097280" cy="1645920"/>
          </a:xfrm>
          <a:prstGeom prst="roundRect">
            <a:avLst>
              <a:gd name="adj" fmla="val 6667"/>
            </a:avLst>
          </a:prstGeom>
          <a:solidFill>
            <a:srgbClr val="9B59B6"/>
          </a:solidFill>
          <a:ln/>
        </p:spPr>
      </p:sp>
      <p:sp>
        <p:nvSpPr>
          <p:cNvPr id="20" name="Text 18"/>
          <p:cNvSpPr/>
          <p:nvPr/>
        </p:nvSpPr>
        <p:spPr>
          <a:xfrm>
            <a:off x="5230368" y="1188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30368" y="16916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Timer-paced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96K pkts/sec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81928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92240" y="1097280"/>
            <a:ext cx="1097280" cy="1645920"/>
          </a:xfrm>
          <a:prstGeom prst="roundRect">
            <a:avLst>
              <a:gd name="adj" fmla="val 6667"/>
            </a:avLst>
          </a:prstGeom>
          <a:solidFill>
            <a:srgbClr val="1ABC9C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1188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16916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GCM auth tag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chunk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4380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754112" y="1097280"/>
            <a:ext cx="1097280" cy="1645920"/>
          </a:xfrm>
          <a:prstGeom prst="roundRect">
            <a:avLst>
              <a:gd name="adj" fmla="val 6667"/>
            </a:avLst>
          </a:prstGeom>
          <a:solidFill>
            <a:srgbClr val="34495E"/>
          </a:solidFill>
          <a:ln/>
        </p:spPr>
      </p:sp>
      <p:sp>
        <p:nvSpPr>
          <p:cNvPr id="28" name="Text 26"/>
          <p:cNvSpPr/>
          <p:nvPr/>
        </p:nvSpPr>
        <p:spPr>
          <a:xfrm>
            <a:off x="7754112" y="1188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54112" y="16916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commit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fsync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pass: Read → Hash → Encrypt in one operation. No second file read.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GB = 15,360 chunks   •   ~11.2 million UDP fragments   •   3,000 MB/s encryption throughput (AES-NI)   •   132 MB/s sustained (disk-limited)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9319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9FA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File Stability Check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4297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Pre-transfer: stat file, wait 2 seconds, stat again. If changed → reject.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Post-transfer: verify source was not modified during transfer. If changed → fail.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transfer 15 GB right now.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2743200"/>
            <a:ext cx="6400800" cy="1645920"/>
          </a:xfrm>
          <a:prstGeom prst="roundRect">
            <a:avLst>
              <a:gd name="adj" fmla="val 5556"/>
            </a:avLst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83464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zapit submit --src testfile_15gb.bin --dest /data/test.bin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--node SERVER_B --remote-user ec2-user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--congestion sprint --target-rate 500m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watch -n 1 zapit list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0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ZAPIT-20260614-00001  RUNNING  67.3%  10329/15360  testfile_15gb.bin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29246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A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questions?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1276</Words>
  <Application>Microsoft Office PowerPoint</Application>
  <PresentationFormat>On-screen Show (16:9)</PresentationFormat>
  <Paragraphs>256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Zapit Product Presentation</dc:subject>
  <dc:creator>Zapit</dc:creator>
  <cp:lastModifiedBy>soy</cp:lastModifiedBy>
  <cp:revision>4</cp:revision>
  <dcterms:created xsi:type="dcterms:W3CDTF">2026-08-24T01:30:17Z</dcterms:created>
  <dcterms:modified xsi:type="dcterms:W3CDTF">2026-08-25T03:04:19Z</dcterms:modified>
</cp:coreProperties>
</file>